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43.xml" ContentType="application/vnd.openxmlformats-officedocument.drawingml.chart+xml"/>
  <Override PartName="/ppt/charts/chart144.xml" ContentType="application/vnd.openxmlformats-officedocument.drawingml.char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charts/chart14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a4161a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b="0" sz="1100" spc="-1" strike="noStrike">
                    <a:solidFill>
                      <a:srgbClr val="22252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Resting BP</c:v>
                </c:pt>
                <c:pt idx="1">
                  <c:v>Cholesterol</c:v>
                </c:pt>
                <c:pt idx="2">
                  <c:v>Age</c:v>
                </c:pt>
                <c:pt idx="3">
                  <c:v>Max heart rate</c:v>
                </c:pt>
                <c:pt idx="4">
                  <c:v>ST depression</c:v>
                </c:pt>
                <c:pt idx="5">
                  <c:v>No. major vessels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0.11</c:v>
                </c:pt>
                <c:pt idx="1">
                  <c:v>0.23</c:v>
                </c:pt>
                <c:pt idx="2">
                  <c:v>0.28</c:v>
                </c:pt>
                <c:pt idx="3">
                  <c:v>0.39</c:v>
                </c:pt>
                <c:pt idx="4">
                  <c:v>0.39</c:v>
                </c:pt>
                <c:pt idx="5">
                  <c:v>0.46</c:v>
                </c:pt>
              </c:numCache>
            </c:numRef>
          </c:val>
        </c:ser>
        <c:gapWidth val="150"/>
        <c:overlap val="0"/>
        <c:axId val="17765797"/>
        <c:axId val="2917299"/>
      </c:barChart>
      <c:catAx>
        <c:axId val="1776579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22252a"/>
                </a:solidFill>
                <a:latin typeface="Calibri"/>
              </a:defRPr>
            </a:pPr>
          </a:p>
        </c:txPr>
        <c:crossAx val="2917299"/>
        <c:crosses val="autoZero"/>
        <c:auto val="1"/>
        <c:lblAlgn val="ctr"/>
        <c:lblOffset val="100"/>
        <c:noMultiLvlLbl val="0"/>
      </c:catAx>
      <c:valAx>
        <c:axId val="2917299"/>
        <c:scaling>
          <c:orientation val="minMax"/>
          <c:max val="0.5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17765797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9360">
      <a:noFill/>
    </a:ln>
  </c:spPr>
</c:chartSpace>
</file>

<file path=ppt/charts/chart14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457b9d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52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0.766</c:v>
                </c:pt>
                <c:pt idx="1">
                  <c:v>0.757</c:v>
                </c:pt>
                <c:pt idx="2">
                  <c:v>0.853</c:v>
                </c:pt>
                <c:pt idx="3">
                  <c:v>0.802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Neural Network</c:v>
                </c:pt>
              </c:strCache>
            </c:strRef>
          </c:tx>
          <c:spPr>
            <a:solidFill>
              <a:srgbClr val="a4161a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b="0" sz="1000" spc="-1" strike="noStrike">
                    <a:solidFill>
                      <a:srgbClr val="22252a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0.804</c:v>
                </c:pt>
                <c:pt idx="1">
                  <c:v>0.811</c:v>
                </c:pt>
                <c:pt idx="2">
                  <c:v>0.843</c:v>
                </c:pt>
                <c:pt idx="3">
                  <c:v>0.827</c:v>
                </c:pt>
              </c:numCache>
            </c:numRef>
          </c:val>
        </c:ser>
        <c:gapWidth val="150"/>
        <c:overlap val="0"/>
        <c:axId val="75677918"/>
        <c:axId val="94136137"/>
      </c:barChart>
      <c:catAx>
        <c:axId val="7567791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22252a"/>
                </a:solidFill>
                <a:latin typeface="Calibri"/>
              </a:defRPr>
            </a:pPr>
          </a:p>
        </c:txPr>
        <c:crossAx val="94136137"/>
        <c:crosses val="autoZero"/>
        <c:auto val="1"/>
        <c:lblAlgn val="ctr"/>
        <c:lblOffset val="100"/>
        <c:noMultiLvlLbl val="0"/>
      </c:catAx>
      <c:valAx>
        <c:axId val="94136137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75677918"/>
        <c:crossBetween val="between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b="0" sz="1200" spc="-1" strike="noStrike">
              <a:solidFill>
                <a:srgbClr val="22252a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936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move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B9FC17A-1BED-46DD-B1C4-01326F6F291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Title slide. Introduce the project: predicting heart disease risk with machine learning, </a:t>
            </a:r>
            <a:r>
              <a:rPr b="0" lang="en-US" sz="2000" spc="-1" strike="noStrike">
                <a:latin typeface="Arial"/>
              </a:rPr>
              <a:t>covering EDA, a baseline model, a neural network, scenario analysis, and an </a:t>
            </a:r>
            <a:r>
              <a:rPr b="0" lang="en-US" sz="2000" spc="-1" strike="noStrike">
                <a:latin typeface="Arial"/>
              </a:rPr>
              <a:t>interactive dashboard.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5E4B67-B64F-4510-93C0-67CDF98708B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State the problem and the </a:t>
            </a:r>
            <a:r>
              <a:rPr b="0" lang="en-US" sz="2000" spc="-1" strike="noStrike">
                <a:latin typeface="Arial"/>
              </a:rPr>
              <a:t>three research </a:t>
            </a:r>
            <a:r>
              <a:rPr b="0" lang="en-US" sz="2000" spc="-1" strike="noStrike">
                <a:latin typeface="Arial"/>
              </a:rPr>
              <a:t>questions. Q1 is about </a:t>
            </a:r>
            <a:r>
              <a:rPr b="0" lang="en-US" sz="2000" spc="-1" strike="noStrike">
                <a:latin typeface="Arial"/>
              </a:rPr>
              <a:t>feature importance, Q2 </a:t>
            </a:r>
            <a:r>
              <a:rPr b="0" lang="en-US" sz="2000" spc="-1" strike="noStrike">
                <a:latin typeface="Arial"/>
              </a:rPr>
              <a:t>compares the neural </a:t>
            </a:r>
            <a:r>
              <a:rPr b="0" lang="en-US" sz="2000" spc="-1" strike="noStrike">
                <a:latin typeface="Arial"/>
              </a:rPr>
              <a:t>network to the baseline, </a:t>
            </a:r>
            <a:r>
              <a:rPr b="0" lang="en-US" sz="2000" spc="-1" strike="noStrike">
                <a:latin typeface="Arial"/>
              </a:rPr>
              <a:t>Q3 is the scenario </a:t>
            </a:r>
            <a:r>
              <a:rPr b="0" lang="en-US" sz="2000" spc="-1" strike="noStrike">
                <a:latin typeface="Arial"/>
              </a:rPr>
              <a:t>analysis.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3657BE-3EDC-473C-8D86-5D0EFCACE9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Describe the dataset: 920 patients, 16 features, a balanced binary target built from the severity score.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79B0A2-9247-459D-B9CB-7F627AA0043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strongest signals are the number of major vessels, ST depression, and maximum heart rate, plus exercise-induced angina and asymptomatic chest pain. Cholesterol and resting BP are weak alone.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DCAF20-5E27-4043-8232-8D6D6122C2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Sum</a:t>
            </a:r>
            <a:r>
              <a:rPr b="0" lang="en-US" sz="2000" spc="-1" strike="noStrike">
                <a:latin typeface="Arial"/>
              </a:rPr>
              <a:t>mari</a:t>
            </a:r>
            <a:r>
              <a:rPr b="0" lang="en-US" sz="2000" spc="-1" strike="noStrike">
                <a:latin typeface="Arial"/>
              </a:rPr>
              <a:t>ze </a:t>
            </a:r>
            <a:r>
              <a:rPr b="0" lang="en-US" sz="2000" spc="-1" strike="noStrike">
                <a:latin typeface="Arial"/>
              </a:rPr>
              <a:t>Part </a:t>
            </a:r>
            <a:r>
              <a:rPr b="0" lang="en-US" sz="2000" spc="-1" strike="noStrike">
                <a:latin typeface="Arial"/>
              </a:rPr>
              <a:t>2 </a:t>
            </a:r>
            <a:r>
              <a:rPr b="0" lang="en-US" sz="2000" spc="-1" strike="noStrike">
                <a:latin typeface="Arial"/>
              </a:rPr>
              <a:t>prep</a:t>
            </a:r>
            <a:r>
              <a:rPr b="0" lang="en-US" sz="2000" spc="-1" strike="noStrike">
                <a:latin typeface="Arial"/>
              </a:rPr>
              <a:t>arati</a:t>
            </a:r>
            <a:r>
              <a:rPr b="0" lang="en-US" sz="2000" spc="-1" strike="noStrike">
                <a:latin typeface="Arial"/>
              </a:rPr>
              <a:t>on: </a:t>
            </a:r>
            <a:r>
              <a:rPr b="0" lang="en-US" sz="2000" spc="-1" strike="noStrike">
                <a:latin typeface="Arial"/>
              </a:rPr>
              <a:t>mis</a:t>
            </a:r>
            <a:r>
              <a:rPr b="0" lang="en-US" sz="2000" spc="-1" strike="noStrike">
                <a:latin typeface="Arial"/>
              </a:rPr>
              <a:t>sing</a:t>
            </a:r>
            <a:r>
              <a:rPr b="0" lang="en-US" sz="2000" spc="-1" strike="noStrike">
                <a:latin typeface="Arial"/>
              </a:rPr>
              <a:t>-</a:t>
            </a:r>
            <a:r>
              <a:rPr b="0" lang="en-US" sz="2000" spc="-1" strike="noStrike">
                <a:latin typeface="Arial"/>
              </a:rPr>
              <a:t>valu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strat</a:t>
            </a:r>
            <a:r>
              <a:rPr b="0" lang="en-US" sz="2000" spc="-1" strike="noStrike">
                <a:latin typeface="Arial"/>
              </a:rPr>
              <a:t>egy, </a:t>
            </a:r>
            <a:r>
              <a:rPr b="0" lang="en-US" sz="2000" spc="-1" strike="noStrike">
                <a:latin typeface="Arial"/>
              </a:rPr>
              <a:t>imp</a:t>
            </a:r>
            <a:r>
              <a:rPr b="0" lang="en-US" sz="2000" spc="-1" strike="noStrike">
                <a:latin typeface="Arial"/>
              </a:rPr>
              <a:t>ossi</a:t>
            </a:r>
            <a:r>
              <a:rPr b="0" lang="en-US" sz="2000" spc="-1" strike="noStrike">
                <a:latin typeface="Arial"/>
              </a:rPr>
              <a:t>ble </a:t>
            </a:r>
            <a:r>
              <a:rPr b="0" lang="en-US" sz="2000" spc="-1" strike="noStrike">
                <a:latin typeface="Arial"/>
              </a:rPr>
              <a:t>zero</a:t>
            </a:r>
            <a:r>
              <a:rPr b="0" lang="en-US" sz="2000" spc="-1" strike="noStrike">
                <a:latin typeface="Arial"/>
              </a:rPr>
              <a:t>s, </a:t>
            </a:r>
            <a:r>
              <a:rPr b="0" lang="en-US" sz="2000" spc="-1" strike="noStrike">
                <a:latin typeface="Arial"/>
              </a:rPr>
              <a:t>outli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cap</a:t>
            </a:r>
            <a:r>
              <a:rPr b="0" lang="en-US" sz="2000" spc="-1" strike="noStrike">
                <a:latin typeface="Arial"/>
              </a:rPr>
              <a:t>ping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en-US" sz="2000" spc="-1" strike="noStrike">
                <a:latin typeface="Arial"/>
              </a:rPr>
              <a:t>rem</a:t>
            </a:r>
            <a:r>
              <a:rPr b="0" lang="en-US" sz="2000" spc="-1" strike="noStrike">
                <a:latin typeface="Arial"/>
              </a:rPr>
              <a:t>ove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colu</a:t>
            </a:r>
            <a:r>
              <a:rPr b="0" lang="en-US" sz="2000" spc="-1" strike="noStrike">
                <a:latin typeface="Arial"/>
              </a:rPr>
              <a:t>mns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en-US" sz="2000" spc="-1" strike="noStrike">
                <a:latin typeface="Arial"/>
              </a:rPr>
              <a:t>enc</a:t>
            </a:r>
            <a:r>
              <a:rPr b="0" lang="en-US" sz="2000" spc="-1" strike="noStrike">
                <a:latin typeface="Arial"/>
              </a:rPr>
              <a:t>odin</a:t>
            </a:r>
            <a:r>
              <a:rPr b="0" lang="en-US" sz="2000" spc="-1" strike="noStrike">
                <a:latin typeface="Arial"/>
              </a:rPr>
              <a:t>g/sc</a:t>
            </a:r>
            <a:r>
              <a:rPr b="0" lang="en-US" sz="2000" spc="-1" strike="noStrike">
                <a:latin typeface="Arial"/>
              </a:rPr>
              <a:t>alin</a:t>
            </a:r>
            <a:r>
              <a:rPr b="0" lang="en-US" sz="2000" spc="-1" strike="noStrike">
                <a:latin typeface="Arial"/>
              </a:rPr>
              <a:t>g to </a:t>
            </a:r>
            <a:r>
              <a:rPr b="0" lang="en-US" sz="2000" spc="-1" strike="noStrike">
                <a:latin typeface="Arial"/>
              </a:rPr>
              <a:t>31 </a:t>
            </a:r>
            <a:r>
              <a:rPr b="0" lang="en-US" sz="2000" spc="-1" strike="noStrike">
                <a:latin typeface="Arial"/>
              </a:rPr>
              <a:t>feat</a:t>
            </a:r>
            <a:r>
              <a:rPr b="0" lang="en-US" sz="2000" spc="-1" strike="noStrike">
                <a:latin typeface="Arial"/>
              </a:rPr>
              <a:t>ures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engi</a:t>
            </a:r>
            <a:r>
              <a:rPr b="0" lang="en-US" sz="2000" spc="-1" strike="noStrike">
                <a:latin typeface="Arial"/>
              </a:rPr>
              <a:t>neer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feat</a:t>
            </a:r>
            <a:r>
              <a:rPr b="0" lang="en-US" sz="2000" spc="-1" strike="noStrike">
                <a:latin typeface="Arial"/>
              </a:rPr>
              <a:t>ures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9E0422-3B9B-43DE-BF25-1519E2A9395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baseline decision tree hits 0.766 accuracy and 0.802 F1 but overfits badly </a:t>
            </a:r>
            <a:r>
              <a:rPr b="0" lang="en-US" sz="2000" spc="-1" strike="noStrike">
                <a:latin typeface="Arial"/>
              </a:rPr>
              <a:t>(perfect training accuracy), which motivates the neural network.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06B8AF2-1D6D-43B8-9F02-BD1F3B547D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neural network reaches 0.804 accuracy and 0.827 F1, learns effectively, and shows only mild late-epoch overfitting.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DF1FA1-78F2-43D5-93E2-37E8500EF7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Answering Research Question 2: the neural network outperforms the baseline on accuracy, precision, and F1. F1 is the most important metric here.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E0CA85-D422-483C-9202-81ECE9A21B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Three realistic scenarios: one improvement and two worsening conditions, all built on the exercise, heart-rate, cholesterol, and blood-pressure features from Research Question 3. Same preprocessing as Part 3.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71DC6A-5BFE-4499-AD96-DA420785C0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Exercise and heart-rate </a:t>
            </a:r>
            <a:r>
              <a:rPr b="0" lang="en-US" sz="2000" spc="-1" strike="noStrike">
                <a:latin typeface="Arial"/>
              </a:rPr>
              <a:t>scenarios move the </a:t>
            </a:r>
            <a:r>
              <a:rPr b="0" lang="en-US" sz="2000" spc="-1" strike="noStrike">
                <a:latin typeface="Arial"/>
              </a:rPr>
              <a:t>model most; </a:t>
            </a:r>
            <a:r>
              <a:rPr b="0" lang="en-US" sz="2000" spc="-1" strike="noStrike">
                <a:latin typeface="Arial"/>
              </a:rPr>
              <a:t>cholesterol/BP barely </a:t>
            </a:r>
            <a:r>
              <a:rPr b="0" lang="en-US" sz="2000" spc="-1" strike="noStrike">
                <a:latin typeface="Arial"/>
              </a:rPr>
              <a:t>move it. All changes go </a:t>
            </a:r>
            <a:r>
              <a:rPr b="0" lang="en-US" sz="2000" spc="-1" strike="noStrike">
                <a:latin typeface="Arial"/>
              </a:rPr>
              <a:t>in the expected </a:t>
            </a:r>
            <a:r>
              <a:rPr b="0" lang="en-US" sz="2000" spc="-1" strike="noStrike">
                <a:latin typeface="Arial"/>
              </a:rPr>
              <a:t>direction. Emphasize </a:t>
            </a:r>
            <a:r>
              <a:rPr b="0" lang="en-US" sz="2000" spc="-1" strike="noStrike">
                <a:latin typeface="Arial"/>
              </a:rPr>
              <a:t>these are model-</a:t>
            </a:r>
            <a:r>
              <a:rPr b="0" lang="en-US" sz="2000" spc="-1" strike="noStrike">
                <a:latin typeface="Arial"/>
              </a:rPr>
              <a:t>sensitivity results, not </a:t>
            </a:r>
            <a:r>
              <a:rPr b="0" lang="en-US" sz="2000" spc="-1" strike="noStrike">
                <a:latin typeface="Arial"/>
              </a:rPr>
              <a:t>causal claims.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7CA39C-0A86-44D7-9211-C838D359E6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Show the updated dashboard live. Demonstrate the Scenario slicer changing the scenario visual, and note the retained Part 4 EDA and model visuals.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84CCFD-D2A0-4E18-A65F-A509991556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Directly answer the three research questions with the evidence gathered across all project phases.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82D570-341F-4D8E-A7C9-E2871473175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Close with recommendations: recommend the neural network with regularization, highlight the most informative features, restate the non-causal caveat, and note validation as the next step. Thank the audience and invite questions.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423C05-0329-4B31-B916-E17903F4C6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36000" y="36000"/>
            <a:ext cx="12161160" cy="6857640"/>
          </a:xfrm>
          <a:prstGeom prst="rect">
            <a:avLst/>
          </a:prstGeom>
          <a:solidFill>
            <a:srgbClr val="6e101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10058400" y="-1005840"/>
            <a:ext cx="3291480" cy="3291480"/>
          </a:xfrm>
          <a:prstGeom prst="ellipse">
            <a:avLst/>
          </a:prstGeom>
          <a:solidFill>
            <a:srgbClr val="a416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9326880" y="4572000"/>
            <a:ext cx="2742840" cy="2742840"/>
          </a:xfrm>
          <a:prstGeom prst="ellipse">
            <a:avLst/>
          </a:prstGeom>
          <a:solidFill>
            <a:srgbClr val="831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640080" y="17373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199" strike="noStrike">
                <a:solidFill>
                  <a:srgbClr val="f2c9cb"/>
                </a:solidFill>
                <a:latin typeface="Calibri"/>
                <a:ea typeface="Calibri"/>
              </a:rPr>
              <a:t>5.2 PROJECT - PRESENTATION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640080" y="219456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mbria"/>
                <a:ea typeface="Cambria"/>
              </a:rPr>
              <a:t>Predicting Heart Disease Risk</a:t>
            </a:r>
            <a:endParaRPr b="0" lang="en-US" sz="46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640080" y="30632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f2c9cb"/>
                </a:solidFill>
                <a:latin typeface="Cambria"/>
                <a:ea typeface="Cambria"/>
              </a:rPr>
              <a:t>Using Machine Learning Techniques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640080" y="512064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Takeria Thomas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Student ID: taktho3199 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THE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Problem &amp; Research Questions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548640" y="1463040"/>
            <a:ext cx="5028840" cy="4754520"/>
          </a:xfrm>
          <a:prstGeom prst="roundRect">
            <a:avLst>
              <a:gd name="adj" fmla="val 1538"/>
            </a:avLst>
          </a:prstGeom>
          <a:solidFill>
            <a:srgbClr val="1d355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" name="Text 3"/>
          <p:cNvSpPr/>
          <p:nvPr/>
        </p:nvSpPr>
        <p:spPr>
          <a:xfrm>
            <a:off x="822960" y="16916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Why it matters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822960" y="2194560"/>
            <a:ext cx="44802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e8ecf3"/>
                </a:solidFill>
                <a:latin typeface="Calibri"/>
                <a:ea typeface="Calibri"/>
              </a:rPr>
              <a:t>Heart disease is a leading cause of death. Identifying high-risk patients early from routine clinical measurements supports earlier intervention and better outcomes.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822960" y="3840480"/>
            <a:ext cx="44802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adcec"/>
                </a:solidFill>
                <a:latin typeface="Calibri"/>
                <a:ea typeface="Calibri"/>
              </a:rPr>
              <a:t>Goal: build and compare models that predict heart disease, then test how the best model reacts to changes in key risk factors.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5852160" y="1463040"/>
            <a:ext cx="5760360" cy="1462680"/>
          </a:xfrm>
          <a:prstGeom prst="roundRect">
            <a:avLst>
              <a:gd name="adj" fmla="val 5000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Shape 7"/>
          <p:cNvSpPr/>
          <p:nvPr/>
        </p:nvSpPr>
        <p:spPr>
          <a:xfrm>
            <a:off x="6080760" y="1783080"/>
            <a:ext cx="822600" cy="822600"/>
          </a:xfrm>
          <a:prstGeom prst="ellipse">
            <a:avLst/>
          </a:prstGeom>
          <a:solidFill>
            <a:srgbClr val="a416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8"/>
          <p:cNvSpPr/>
          <p:nvPr/>
        </p:nvSpPr>
        <p:spPr>
          <a:xfrm>
            <a:off x="6080760" y="17830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Q1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7086600" y="1645920"/>
            <a:ext cx="43887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52a"/>
                </a:solidFill>
                <a:latin typeface="Calibri"/>
                <a:ea typeface="Calibri"/>
              </a:rPr>
              <a:t>Which patient characteristics relate most strongly to heart disease?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5852160" y="3044880"/>
            <a:ext cx="5760360" cy="1462680"/>
          </a:xfrm>
          <a:prstGeom prst="roundRect">
            <a:avLst>
              <a:gd name="adj" fmla="val 5000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Shape 11"/>
          <p:cNvSpPr/>
          <p:nvPr/>
        </p:nvSpPr>
        <p:spPr>
          <a:xfrm>
            <a:off x="6080760" y="3364920"/>
            <a:ext cx="822600" cy="822600"/>
          </a:xfrm>
          <a:prstGeom prst="ellipse">
            <a:avLst/>
          </a:prstGeom>
          <a:solidFill>
            <a:srgbClr val="a416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2"/>
          <p:cNvSpPr/>
          <p:nvPr/>
        </p:nvSpPr>
        <p:spPr>
          <a:xfrm>
            <a:off x="6080760" y="33649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Q2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7086600" y="3227760"/>
            <a:ext cx="43887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52a"/>
                </a:solidFill>
                <a:latin typeface="Calibri"/>
                <a:ea typeface="Calibri"/>
              </a:rPr>
              <a:t>Does a neural network predict more accurately than a baseline model?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5852160" y="4626720"/>
            <a:ext cx="5760360" cy="1462680"/>
          </a:xfrm>
          <a:prstGeom prst="roundRect">
            <a:avLst>
              <a:gd name="adj" fmla="val 5000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Shape 15"/>
          <p:cNvSpPr/>
          <p:nvPr/>
        </p:nvSpPr>
        <p:spPr>
          <a:xfrm>
            <a:off x="6080760" y="4946760"/>
            <a:ext cx="822600" cy="822600"/>
          </a:xfrm>
          <a:prstGeom prst="ellipse">
            <a:avLst/>
          </a:prstGeom>
          <a:solidFill>
            <a:srgbClr val="a416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6"/>
          <p:cNvSpPr/>
          <p:nvPr/>
        </p:nvSpPr>
        <p:spPr>
          <a:xfrm>
            <a:off x="6080760" y="49467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Q3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7086600" y="4809600"/>
            <a:ext cx="43887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52a"/>
                </a:solidFill>
                <a:latin typeface="Calibri"/>
                <a:ea typeface="Calibri"/>
              </a:rPr>
              <a:t>How do changes in cholesterol, blood pressure, heart rate, and exercise variables affect predicted risk?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THE DATA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Dataset Overview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548640" y="14173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2252a"/>
                </a:solidFill>
                <a:latin typeface="Calibri"/>
                <a:ea typeface="Calibri"/>
              </a:rPr>
              <a:t>UCI Heart Disease Data </a:t>
            </a:r>
            <a:r>
              <a:rPr b="0" lang="en-US" sz="1600" spc="-1" strike="noStrike">
                <a:solidFill>
                  <a:srgbClr val="22252a"/>
                </a:solidFill>
                <a:latin typeface="Calibri"/>
                <a:ea typeface="Calibri"/>
              </a:rPr>
              <a:t>(Kaggle). Demographic, clinical, and diagnostic measurements for heart-disease screening.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548640" y="228600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Text 4"/>
          <p:cNvSpPr/>
          <p:nvPr/>
        </p:nvSpPr>
        <p:spPr>
          <a:xfrm>
            <a:off x="548640" y="251460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a4161a"/>
                </a:solidFill>
                <a:latin typeface="Cambria"/>
                <a:ea typeface="Cambria"/>
              </a:rPr>
              <a:t>920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548640" y="335592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5a5a"/>
                </a:solidFill>
                <a:latin typeface="Calibri"/>
                <a:ea typeface="Calibri"/>
              </a:rPr>
              <a:t>patient records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3383280" y="228600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Text 7"/>
          <p:cNvSpPr/>
          <p:nvPr/>
        </p:nvSpPr>
        <p:spPr>
          <a:xfrm>
            <a:off x="3383280" y="251460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a4161a"/>
                </a:solidFill>
                <a:latin typeface="Cambria"/>
                <a:ea typeface="Cambria"/>
              </a:rPr>
              <a:t>16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3383280" y="335592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5a5a"/>
                </a:solidFill>
                <a:latin typeface="Calibri"/>
                <a:ea typeface="Calibri"/>
              </a:rPr>
              <a:t>original features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6217920" y="228600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Text 10"/>
          <p:cNvSpPr/>
          <p:nvPr/>
        </p:nvSpPr>
        <p:spPr>
          <a:xfrm>
            <a:off x="6217920" y="251460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a4161a"/>
                </a:solidFill>
                <a:latin typeface="Cambria"/>
                <a:ea typeface="Cambria"/>
              </a:rPr>
              <a:t>509 / 411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6217920" y="335592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5a5a"/>
                </a:solidFill>
                <a:latin typeface="Calibri"/>
                <a:ea typeface="Calibri"/>
              </a:rPr>
              <a:t>disease / no-disease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9052560" y="2286000"/>
            <a:ext cx="2651400" cy="1737000"/>
          </a:xfrm>
          <a:prstGeom prst="roundRect">
            <a:avLst>
              <a:gd name="adj" fmla="val 421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Text 13"/>
          <p:cNvSpPr/>
          <p:nvPr/>
        </p:nvSpPr>
        <p:spPr>
          <a:xfrm>
            <a:off x="9052560" y="251460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a4161a"/>
                </a:solidFill>
                <a:latin typeface="Cambria"/>
                <a:ea typeface="Cambria"/>
              </a:rPr>
              <a:t>Binary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9052560" y="335592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5a5a"/>
                </a:solidFill>
                <a:latin typeface="Calibri"/>
                <a:ea typeface="Calibri"/>
              </a:rPr>
              <a:t>classification task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548640" y="438912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2252a"/>
                </a:solidFill>
                <a:latin typeface="Calibri"/>
                <a:ea typeface="Calibri"/>
              </a:rPr>
              <a:t>Target: presence of heart disease (1 = disease when severity score num &gt; 0, else 0). The classes are reasonably balanced (~55% / 45%), so accuracy is a fair headline metric.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548640" y="521208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a5a5a"/>
                </a:solidFill>
                <a:latin typeface="Calibri"/>
                <a:ea typeface="Calibri"/>
              </a:rPr>
              <a:t>Key measurements used: age, sex, chest-pain type, resting blood pressure, cholesterol, maximum heart rate, exercise-induced angina, ST depression, number of major vessels, and thalassemia.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EXPLORATORY ANALYSIS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Key EDA Findings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54864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d3557"/>
                </a:solidFill>
                <a:latin typeface="Cambria"/>
                <a:ea typeface="Cambria"/>
              </a:rPr>
              <a:t>Strongest correlations with heart disease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89" name="Chart 0"/>
          <p:cNvGraphicFramePr/>
          <p:nvPr/>
        </p:nvGraphicFramePr>
        <p:xfrm>
          <a:off x="548640" y="1828800"/>
          <a:ext cx="6400440" cy="438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" name="Shape 3"/>
          <p:cNvSpPr/>
          <p:nvPr/>
        </p:nvSpPr>
        <p:spPr>
          <a:xfrm>
            <a:off x="7315200" y="1828800"/>
            <a:ext cx="4297320" cy="4388760"/>
          </a:xfrm>
          <a:prstGeom prst="roundRect">
            <a:avLst>
              <a:gd name="adj" fmla="val 1702"/>
            </a:avLst>
          </a:prstGeom>
          <a:solidFill>
            <a:srgbClr val="1d355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" name="Text 4"/>
          <p:cNvSpPr/>
          <p:nvPr/>
        </p:nvSpPr>
        <p:spPr>
          <a:xfrm>
            <a:off x="7589520" y="20116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What stood out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7589520" y="2468880"/>
            <a:ext cx="38401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8ecf3"/>
                </a:solidFill>
                <a:latin typeface="Calibri"/>
                <a:ea typeface="Calibri"/>
              </a:rPr>
              <a:t>Exercise-induced angina: 84% vs 36% disease rate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8ecf3"/>
                </a:solidFill>
                <a:latin typeface="Calibri"/>
                <a:ea typeface="Calibri"/>
              </a:rPr>
              <a:t>Asymptomatic chest pain: ~79% disease rate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8ecf3"/>
                </a:solidFill>
                <a:latin typeface="Calibri"/>
                <a:ea typeface="Calibri"/>
              </a:rPr>
              <a:t>Lower max heart rate linked to disease</a:t>
            </a:r>
            <a:endParaRPr b="0" lang="en-US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e8ecf3"/>
                </a:solidFill>
                <a:latin typeface="Calibri"/>
                <a:ea typeface="Calibri"/>
              </a:rPr>
              <a:t>Cholesterol &amp; resting BP: weak on their own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PREPARATION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Data Cleaning &amp; Preprocessing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548640" y="1554480"/>
            <a:ext cx="5394600" cy="1416960"/>
          </a:xfrm>
          <a:prstGeom prst="roundRect">
            <a:avLst>
              <a:gd name="adj" fmla="val 516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" name="Shape 3"/>
          <p:cNvSpPr/>
          <p:nvPr/>
        </p:nvSpPr>
        <p:spPr>
          <a:xfrm>
            <a:off x="777240" y="1965960"/>
            <a:ext cx="594000" cy="594000"/>
          </a:xfrm>
          <a:prstGeom prst="ellipse">
            <a:avLst/>
          </a:prstGeom>
          <a:solidFill>
            <a:srgbClr val="457b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4"/>
          <p:cNvSpPr/>
          <p:nvPr/>
        </p:nvSpPr>
        <p:spPr>
          <a:xfrm>
            <a:off x="777240" y="19659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1508760" y="171900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d3557"/>
                </a:solidFill>
                <a:latin typeface="Calibri"/>
                <a:ea typeface="Calibri"/>
              </a:rPr>
              <a:t>Missing data  </a:t>
            </a:r>
            <a:r>
              <a:rPr b="0" lang="en-US" sz="1300" spc="-1" strike="noStrike">
                <a:solidFill>
                  <a:srgbClr val="22252a"/>
                </a:solidFill>
                <a:latin typeface="Calibri"/>
                <a:ea typeface="Calibri"/>
              </a:rPr>
              <a:t>1,759 gaps filled: median (numeric), mode (light categoricals), "Unknown" (heavy).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6172200" y="1554480"/>
            <a:ext cx="5394600" cy="1416960"/>
          </a:xfrm>
          <a:prstGeom prst="roundRect">
            <a:avLst>
              <a:gd name="adj" fmla="val 516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Shape 7"/>
          <p:cNvSpPr/>
          <p:nvPr/>
        </p:nvSpPr>
        <p:spPr>
          <a:xfrm>
            <a:off x="6400800" y="1965960"/>
            <a:ext cx="594000" cy="594000"/>
          </a:xfrm>
          <a:prstGeom prst="ellipse">
            <a:avLst/>
          </a:prstGeom>
          <a:solidFill>
            <a:srgbClr val="457b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8"/>
          <p:cNvSpPr/>
          <p:nvPr/>
        </p:nvSpPr>
        <p:spPr>
          <a:xfrm>
            <a:off x="6400800" y="19659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7132320" y="171900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d3557"/>
                </a:solidFill>
                <a:latin typeface="Calibri"/>
                <a:ea typeface="Calibri"/>
              </a:rPr>
              <a:t>Bad values  </a:t>
            </a:r>
            <a:r>
              <a:rPr b="0" lang="en-US" sz="1300" spc="-1" strike="noStrike">
                <a:solidFill>
                  <a:srgbClr val="22252a"/>
                </a:solidFill>
                <a:latin typeface="Calibri"/>
                <a:ea typeface="Calibri"/>
              </a:rPr>
              <a:t>Impossible zero cholesterol / BP treated as missing.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548640" y="3154680"/>
            <a:ext cx="5394600" cy="1416960"/>
          </a:xfrm>
          <a:prstGeom prst="roundRect">
            <a:avLst>
              <a:gd name="adj" fmla="val 516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11"/>
          <p:cNvSpPr/>
          <p:nvPr/>
        </p:nvSpPr>
        <p:spPr>
          <a:xfrm>
            <a:off x="777240" y="3566160"/>
            <a:ext cx="594000" cy="594000"/>
          </a:xfrm>
          <a:prstGeom prst="ellipse">
            <a:avLst/>
          </a:prstGeom>
          <a:solidFill>
            <a:srgbClr val="457b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2"/>
          <p:cNvSpPr/>
          <p:nvPr/>
        </p:nvSpPr>
        <p:spPr>
          <a:xfrm>
            <a:off x="777240" y="35661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1508760" y="331920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d3557"/>
                </a:solidFill>
                <a:latin typeface="Calibri"/>
                <a:ea typeface="Calibri"/>
              </a:rPr>
              <a:t>Outliers  </a:t>
            </a:r>
            <a:r>
              <a:rPr b="0" lang="en-US" sz="1300" spc="-1" strike="noStrike">
                <a:solidFill>
                  <a:srgbClr val="22252a"/>
                </a:solidFill>
                <a:latin typeface="Calibri"/>
                <a:ea typeface="Calibri"/>
              </a:rPr>
              <a:t>Capped at 1.5×IQR - no records dropped (920 kept).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6172200" y="3154680"/>
            <a:ext cx="5394600" cy="1416960"/>
          </a:xfrm>
          <a:prstGeom prst="roundRect">
            <a:avLst>
              <a:gd name="adj" fmla="val 516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Shape 15"/>
          <p:cNvSpPr/>
          <p:nvPr/>
        </p:nvSpPr>
        <p:spPr>
          <a:xfrm>
            <a:off x="6400800" y="3566160"/>
            <a:ext cx="594000" cy="594000"/>
          </a:xfrm>
          <a:prstGeom prst="ellipse">
            <a:avLst/>
          </a:prstGeom>
          <a:solidFill>
            <a:srgbClr val="457b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6"/>
          <p:cNvSpPr/>
          <p:nvPr/>
        </p:nvSpPr>
        <p:spPr>
          <a:xfrm>
            <a:off x="6400800" y="35661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7132320" y="331920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d3557"/>
                </a:solidFill>
                <a:latin typeface="Calibri"/>
                <a:ea typeface="Calibri"/>
              </a:rPr>
              <a:t>Removed  </a:t>
            </a:r>
            <a:r>
              <a:rPr b="0" lang="en-US" sz="1300" spc="-1" strike="noStrike">
                <a:solidFill>
                  <a:srgbClr val="22252a"/>
                </a:solidFill>
                <a:latin typeface="Calibri"/>
                <a:ea typeface="Calibri"/>
              </a:rPr>
              <a:t>id (identifier) and num (reveals the target).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548640" y="4754880"/>
            <a:ext cx="5394600" cy="1416960"/>
          </a:xfrm>
          <a:prstGeom prst="roundRect">
            <a:avLst>
              <a:gd name="adj" fmla="val 516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2" name="Shape 19"/>
          <p:cNvSpPr/>
          <p:nvPr/>
        </p:nvSpPr>
        <p:spPr>
          <a:xfrm>
            <a:off x="777240" y="5166360"/>
            <a:ext cx="594000" cy="594000"/>
          </a:xfrm>
          <a:prstGeom prst="ellipse">
            <a:avLst/>
          </a:prstGeom>
          <a:solidFill>
            <a:srgbClr val="457b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20"/>
          <p:cNvSpPr/>
          <p:nvPr/>
        </p:nvSpPr>
        <p:spPr>
          <a:xfrm>
            <a:off x="777240" y="51663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4" name="Text 21"/>
          <p:cNvSpPr/>
          <p:nvPr/>
        </p:nvSpPr>
        <p:spPr>
          <a:xfrm>
            <a:off x="1508760" y="491940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d3557"/>
                </a:solidFill>
                <a:latin typeface="Calibri"/>
                <a:ea typeface="Calibri"/>
              </a:rPr>
              <a:t>Encoding &amp; scaling  </a:t>
            </a:r>
            <a:r>
              <a:rPr b="0" lang="en-US" sz="1300" spc="-1" strike="noStrike">
                <a:solidFill>
                  <a:srgbClr val="22252a"/>
                </a:solidFill>
                <a:latin typeface="Calibri"/>
                <a:ea typeface="Calibri"/>
              </a:rPr>
              <a:t>One-hot encoding + standardization → 31 features.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5" name="Shape 22"/>
          <p:cNvSpPr/>
          <p:nvPr/>
        </p:nvSpPr>
        <p:spPr>
          <a:xfrm>
            <a:off x="6172200" y="4754880"/>
            <a:ext cx="5394600" cy="1416960"/>
          </a:xfrm>
          <a:prstGeom prst="roundRect">
            <a:avLst>
              <a:gd name="adj" fmla="val 516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Shape 23"/>
          <p:cNvSpPr/>
          <p:nvPr/>
        </p:nvSpPr>
        <p:spPr>
          <a:xfrm>
            <a:off x="6400800" y="5166360"/>
            <a:ext cx="594000" cy="594000"/>
          </a:xfrm>
          <a:prstGeom prst="ellipse">
            <a:avLst/>
          </a:prstGeom>
          <a:solidFill>
            <a:srgbClr val="457b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24"/>
          <p:cNvSpPr/>
          <p:nvPr/>
        </p:nvSpPr>
        <p:spPr>
          <a:xfrm>
            <a:off x="6400800" y="51663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8" name="Text 25"/>
          <p:cNvSpPr/>
          <p:nvPr/>
        </p:nvSpPr>
        <p:spPr>
          <a:xfrm>
            <a:off x="7132320" y="491940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d3557"/>
                </a:solidFill>
                <a:latin typeface="Calibri"/>
                <a:ea typeface="Calibri"/>
              </a:rPr>
              <a:t>Engineered  </a:t>
            </a:r>
            <a:r>
              <a:rPr b="0" lang="en-US" sz="1300" spc="-1" strike="noStrike">
                <a:solidFill>
                  <a:srgbClr val="22252a"/>
                </a:solidFill>
                <a:latin typeface="Calibri"/>
                <a:ea typeface="Calibri"/>
              </a:rPr>
              <a:t>age_group and chol_level bands added.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MODEL 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Baseline: Decision Tree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548640" y="1554480"/>
            <a:ext cx="5120280" cy="4571640"/>
          </a:xfrm>
          <a:prstGeom prst="roundRect">
            <a:avLst>
              <a:gd name="adj" fmla="val 1600"/>
            </a:avLst>
          </a:prstGeom>
          <a:solidFill>
            <a:srgbClr val="1d355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2" name="Text 3"/>
          <p:cNvSpPr/>
          <p:nvPr/>
        </p:nvSpPr>
        <p:spPr>
          <a:xfrm>
            <a:off x="822960" y="17830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Why a decision tree?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822960" y="2286000"/>
            <a:ext cx="45716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ecf3"/>
                </a:solidFill>
                <a:latin typeface="Calibri"/>
                <a:ea typeface="Calibri"/>
              </a:rPr>
              <a:t>Simple and fully interpretable</a:t>
            </a:r>
            <a:endParaRPr b="0" lang="en-US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ecf3"/>
                </a:solidFill>
                <a:latin typeface="Calibri"/>
                <a:ea typeface="Calibri"/>
              </a:rPr>
              <a:t>Handles encoded + numeric features directly</a:t>
            </a:r>
            <a:endParaRPr b="0" lang="en-US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ecf3"/>
                </a:solidFill>
                <a:latin typeface="Calibri"/>
                <a:ea typeface="Calibri"/>
              </a:rPr>
              <a:t>Clear reference point for the neural network</a:t>
            </a:r>
            <a:endParaRPr b="0" lang="en-US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ecf3"/>
                </a:solidFill>
                <a:latin typeface="Calibri"/>
                <a:ea typeface="Calibri"/>
              </a:rPr>
              <a:t>80/20 stratified split (736 train / 184 test)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5943600" y="1554480"/>
            <a:ext cx="5668920" cy="2148480"/>
          </a:xfrm>
          <a:prstGeom prst="roundRect">
            <a:avLst>
              <a:gd name="adj" fmla="val 3404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Text 6"/>
          <p:cNvSpPr/>
          <p:nvPr/>
        </p:nvSpPr>
        <p:spPr>
          <a:xfrm>
            <a:off x="6035040" y="18288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a4161a"/>
                </a:solidFill>
                <a:latin typeface="Cambria"/>
                <a:ea typeface="Cambria"/>
              </a:rPr>
              <a:t>0.766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6035040" y="26701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5a5a"/>
                </a:solidFill>
                <a:latin typeface="Calibri"/>
                <a:ea typeface="Calibri"/>
              </a:rPr>
              <a:t>Accuracy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8778240" y="18288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a4161a"/>
                </a:solidFill>
                <a:latin typeface="Cambria"/>
                <a:ea typeface="Cambria"/>
              </a:rPr>
              <a:t>0.802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28" name="Text 9"/>
          <p:cNvSpPr/>
          <p:nvPr/>
        </p:nvSpPr>
        <p:spPr>
          <a:xfrm>
            <a:off x="8778240" y="26701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5a5a"/>
                </a:solidFill>
                <a:latin typeface="Calibri"/>
                <a:ea typeface="Calibri"/>
              </a:rPr>
              <a:t>F1-Score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9" name="Shape 10"/>
          <p:cNvSpPr/>
          <p:nvPr/>
        </p:nvSpPr>
        <p:spPr>
          <a:xfrm>
            <a:off x="5943600" y="3931920"/>
            <a:ext cx="5668920" cy="2194200"/>
          </a:xfrm>
          <a:prstGeom prst="roundRect">
            <a:avLst>
              <a:gd name="adj" fmla="val 3333"/>
            </a:avLst>
          </a:prstGeom>
          <a:solidFill>
            <a:srgbClr val="f4d9d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Text 11"/>
          <p:cNvSpPr/>
          <p:nvPr/>
        </p:nvSpPr>
        <p:spPr>
          <a:xfrm>
            <a:off x="6217920" y="411480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a4161a"/>
                </a:solidFill>
                <a:latin typeface="Cambria"/>
                <a:ea typeface="Cambria"/>
              </a:rPr>
              <a:t>Key weakness: overfitting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6217920" y="4572000"/>
            <a:ext cx="5120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52a"/>
                </a:solidFill>
                <a:latin typeface="Calibri"/>
                <a:ea typeface="Calibri"/>
              </a:rPr>
              <a:t>Training accuracy 1.00 vs test 0.766 - the unconstrained tree (depth 17) memorized the training data instead of learning general patterns.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MODEL 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Neural Network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548640" y="1554480"/>
            <a:ext cx="5486040" cy="4571640"/>
          </a:xfrm>
          <a:prstGeom prst="roundRect">
            <a:avLst>
              <a:gd name="adj" fmla="val 1600"/>
            </a:avLst>
          </a:prstGeom>
          <a:solidFill>
            <a:srgbClr val="1d355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Text 3"/>
          <p:cNvSpPr/>
          <p:nvPr/>
        </p:nvSpPr>
        <p:spPr>
          <a:xfrm>
            <a:off x="822960" y="17830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Architecture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36" name="Shape 4"/>
          <p:cNvSpPr/>
          <p:nvPr/>
        </p:nvSpPr>
        <p:spPr>
          <a:xfrm>
            <a:off x="822960" y="2286000"/>
            <a:ext cx="4845960" cy="658080"/>
          </a:xfrm>
          <a:prstGeom prst="roundRect">
            <a:avLst>
              <a:gd name="adj" fmla="val 8333"/>
            </a:avLst>
          </a:prstGeom>
          <a:solidFill>
            <a:srgbClr val="274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5"/>
          <p:cNvSpPr/>
          <p:nvPr/>
        </p:nvSpPr>
        <p:spPr>
          <a:xfrm>
            <a:off x="1005840" y="2304360"/>
            <a:ext cx="4571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Input  </a:t>
            </a:r>
            <a:r>
              <a:rPr b="0" lang="en-US" sz="1400" spc="-1" strike="noStrike">
                <a:solidFill>
                  <a:srgbClr val="cadcec"/>
                </a:solidFill>
                <a:latin typeface="Calibri"/>
                <a:ea typeface="Calibri"/>
              </a:rPr>
              <a:t>31 features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822960" y="3063240"/>
            <a:ext cx="4845960" cy="658080"/>
          </a:xfrm>
          <a:prstGeom prst="roundRect">
            <a:avLst>
              <a:gd name="adj" fmla="val 8333"/>
            </a:avLst>
          </a:prstGeom>
          <a:solidFill>
            <a:srgbClr val="274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7"/>
          <p:cNvSpPr/>
          <p:nvPr/>
        </p:nvSpPr>
        <p:spPr>
          <a:xfrm>
            <a:off x="1005840" y="3081600"/>
            <a:ext cx="4571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Dense  </a:t>
            </a:r>
            <a:r>
              <a:rPr b="0" lang="en-US" sz="1400" spc="-1" strike="noStrike">
                <a:solidFill>
                  <a:srgbClr val="cadcec"/>
                </a:solidFill>
                <a:latin typeface="Calibri"/>
                <a:ea typeface="Calibri"/>
              </a:rPr>
              <a:t>32 neurons - ReLU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822960" y="3840480"/>
            <a:ext cx="4845960" cy="658080"/>
          </a:xfrm>
          <a:prstGeom prst="roundRect">
            <a:avLst>
              <a:gd name="adj" fmla="val 8333"/>
            </a:avLst>
          </a:prstGeom>
          <a:solidFill>
            <a:srgbClr val="274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9"/>
          <p:cNvSpPr/>
          <p:nvPr/>
        </p:nvSpPr>
        <p:spPr>
          <a:xfrm>
            <a:off x="1005840" y="3858840"/>
            <a:ext cx="4571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Dense  </a:t>
            </a:r>
            <a:r>
              <a:rPr b="0" lang="en-US" sz="1400" spc="-1" strike="noStrike">
                <a:solidFill>
                  <a:srgbClr val="cadcec"/>
                </a:solidFill>
                <a:latin typeface="Calibri"/>
                <a:ea typeface="Calibri"/>
              </a:rPr>
              <a:t>16 neurons - ReLU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822960" y="4617720"/>
            <a:ext cx="4845960" cy="658080"/>
          </a:xfrm>
          <a:prstGeom prst="roundRect">
            <a:avLst>
              <a:gd name="adj" fmla="val 8333"/>
            </a:avLst>
          </a:prstGeom>
          <a:solidFill>
            <a:srgbClr val="2745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1"/>
          <p:cNvSpPr/>
          <p:nvPr/>
        </p:nvSpPr>
        <p:spPr>
          <a:xfrm>
            <a:off x="1005840" y="4636080"/>
            <a:ext cx="45716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Output  </a:t>
            </a:r>
            <a:r>
              <a:rPr b="0" lang="en-US" sz="1400" spc="-1" strike="noStrike">
                <a:solidFill>
                  <a:srgbClr val="cadcec"/>
                </a:solidFill>
                <a:latin typeface="Calibri"/>
                <a:ea typeface="Calibri"/>
              </a:rPr>
              <a:t>1 neuron - Sigmoid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822960" y="553212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adcec"/>
                </a:solidFill>
                <a:latin typeface="Calibri"/>
                <a:ea typeface="Calibri"/>
              </a:rPr>
              <a:t>Adam optimizer - binary cross-entropy - 100 epochs - batch 16 - 1,569 parameters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6309360" y="1554480"/>
            <a:ext cx="5303160" cy="2148480"/>
          </a:xfrm>
          <a:prstGeom prst="roundRect">
            <a:avLst>
              <a:gd name="adj" fmla="val 3404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Text 14"/>
          <p:cNvSpPr/>
          <p:nvPr/>
        </p:nvSpPr>
        <p:spPr>
          <a:xfrm>
            <a:off x="6400800" y="18288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a4161a"/>
                </a:solidFill>
                <a:latin typeface="Cambria"/>
                <a:ea typeface="Cambria"/>
              </a:rPr>
              <a:t>0.804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400800" y="267012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5a5a"/>
                </a:solidFill>
                <a:latin typeface="Calibri"/>
                <a:ea typeface="Calibri"/>
              </a:rPr>
              <a:t>Accuracy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8" name="Text 16"/>
          <p:cNvSpPr/>
          <p:nvPr/>
        </p:nvSpPr>
        <p:spPr>
          <a:xfrm>
            <a:off x="9052560" y="18288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a4161a"/>
                </a:solidFill>
                <a:latin typeface="Cambria"/>
                <a:ea typeface="Cambria"/>
              </a:rPr>
              <a:t>0.827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9052560" y="267012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a5a5a"/>
                </a:solidFill>
                <a:latin typeface="Calibri"/>
                <a:ea typeface="Calibri"/>
              </a:rPr>
              <a:t>F1-Score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6309360" y="3931920"/>
            <a:ext cx="5303160" cy="2194200"/>
          </a:xfrm>
          <a:prstGeom prst="roundRect">
            <a:avLst>
              <a:gd name="adj" fmla="val 3333"/>
            </a:avLst>
          </a:prstGeom>
          <a:solidFill>
            <a:srgbClr val="e7eef3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1" name="Text 19"/>
          <p:cNvSpPr/>
          <p:nvPr/>
        </p:nvSpPr>
        <p:spPr>
          <a:xfrm>
            <a:off x="6583680" y="41148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457b9d"/>
                </a:solidFill>
                <a:latin typeface="Cambria"/>
                <a:ea typeface="Cambria"/>
              </a:rPr>
              <a:t>Learning &amp; fit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2" name="Text 20"/>
          <p:cNvSpPr/>
          <p:nvPr/>
        </p:nvSpPr>
        <p:spPr>
          <a:xfrm>
            <a:off x="6583680" y="4572000"/>
            <a:ext cx="4754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52a"/>
                </a:solidFill>
                <a:latin typeface="Calibri"/>
                <a:ea typeface="Calibri"/>
              </a:rPr>
              <a:t>Accuracy rose and loss fell steadily (the model learns well), with only mild overfitting late in training (train ~0.986 vs validation ~0.811).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HEAD TO HEAD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Baseline vs Neural Network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155" name="Chart 0"/>
          <p:cNvGraphicFramePr/>
          <p:nvPr/>
        </p:nvGraphicFramePr>
        <p:xfrm>
          <a:off x="548640" y="1554480"/>
          <a:ext cx="740628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6" name="Shape 2"/>
          <p:cNvSpPr/>
          <p:nvPr/>
        </p:nvSpPr>
        <p:spPr>
          <a:xfrm>
            <a:off x="8229600" y="1554480"/>
            <a:ext cx="3382920" cy="4571640"/>
          </a:xfrm>
          <a:prstGeom prst="roundRect">
            <a:avLst>
              <a:gd name="adj" fmla="val 2162"/>
            </a:avLst>
          </a:prstGeom>
          <a:solidFill>
            <a:srgbClr val="1d355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Text 3"/>
          <p:cNvSpPr/>
          <p:nvPr/>
        </p:nvSpPr>
        <p:spPr>
          <a:xfrm>
            <a:off x="8458200" y="17830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The takeaway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8458200" y="2286000"/>
            <a:ext cx="29714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8ecf3"/>
                </a:solidFill>
                <a:latin typeface="Calibri"/>
                <a:ea typeface="Calibri"/>
              </a:rPr>
              <a:t>Neural network wins on accuracy, precision, and F1.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8ecf3"/>
                </a:solidFill>
                <a:latin typeface="Calibri"/>
                <a:ea typeface="Calibri"/>
              </a:rPr>
              <a:t>Baseline only edges recall (0.853 vs 0.843).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8ecf3"/>
                </a:solidFill>
                <a:latin typeface="Calibri"/>
                <a:ea typeface="Calibri"/>
              </a:rPr>
              <a:t>F1 is the key metric – balanced classes, medical context.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8ecf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8ecf3"/>
                </a:solidFill>
                <a:latin typeface="Calibri"/>
                <a:ea typeface="Calibri"/>
              </a:rPr>
              <a:t>NN generalizes better than the tree.</a:t>
            </a:r>
            <a:endParaRPr b="0" lang="en-U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WHAT-IF ANALYSIS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Scenario Design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548640" y="14173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5a5a5a"/>
                </a:solidFill>
                <a:latin typeface="Calibri"/>
                <a:ea typeface="Calibri"/>
              </a:rPr>
              <a:t>Using the neural network to test how predicted risk responds when key inputs change (Research Question 3).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548640" y="2011680"/>
            <a:ext cx="3611520" cy="4023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Shape 4"/>
          <p:cNvSpPr/>
          <p:nvPr/>
        </p:nvSpPr>
        <p:spPr>
          <a:xfrm>
            <a:off x="548640" y="2011680"/>
            <a:ext cx="3611520" cy="1051200"/>
          </a:xfrm>
          <a:prstGeom prst="roundRect">
            <a:avLst>
              <a:gd name="adj" fmla="val 6957"/>
            </a:avLst>
          </a:prstGeom>
          <a:solidFill>
            <a:srgbClr val="a416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5"/>
          <p:cNvSpPr/>
          <p:nvPr/>
        </p:nvSpPr>
        <p:spPr>
          <a:xfrm>
            <a:off x="777240" y="21488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ffff"/>
                </a:solidFill>
                <a:latin typeface="Calibri"/>
                <a:ea typeface="Calibri"/>
              </a:rPr>
              <a:t>Scenario 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777240" y="24872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Improved Cardiovascular Health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777240" y="32918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4161a"/>
                </a:solidFill>
                <a:latin typeface="Calibri"/>
                <a:ea typeface="Calibri"/>
              </a:rPr>
              <a:t>Change applied: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777240" y="3611880"/>
            <a:ext cx="3200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52a"/>
                </a:solidFill>
                <a:latin typeface="Calibri"/>
                <a:ea typeface="Calibri"/>
              </a:rPr>
              <a:t>Max HR +25 bpm, ST depression = 0, no exercise angina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4343400" y="2011680"/>
            <a:ext cx="3611520" cy="4023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Shape 10"/>
          <p:cNvSpPr/>
          <p:nvPr/>
        </p:nvSpPr>
        <p:spPr>
          <a:xfrm>
            <a:off x="4343400" y="2011680"/>
            <a:ext cx="3611520" cy="1051200"/>
          </a:xfrm>
          <a:prstGeom prst="roundRect">
            <a:avLst>
              <a:gd name="adj" fmla="val 6957"/>
            </a:avLst>
          </a:prstGeom>
          <a:solidFill>
            <a:srgbClr val="457b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1"/>
          <p:cNvSpPr/>
          <p:nvPr/>
        </p:nvSpPr>
        <p:spPr>
          <a:xfrm>
            <a:off x="4572000" y="21488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ffff"/>
                </a:solidFill>
                <a:latin typeface="Calibri"/>
                <a:ea typeface="Calibri"/>
              </a:rPr>
              <a:t>Scenario 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4572000" y="24872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Worsened Cholesterol &amp; BP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4572000" y="32918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57b9d"/>
                </a:solidFill>
                <a:latin typeface="Calibri"/>
                <a:ea typeface="Calibri"/>
              </a:rPr>
              <a:t>Change applied: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4572000" y="3611880"/>
            <a:ext cx="3200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52a"/>
                </a:solidFill>
                <a:latin typeface="Calibri"/>
                <a:ea typeface="Calibri"/>
              </a:rPr>
              <a:t>Cholesterol +20%, resting blood pressure +15 mmHg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8138160" y="2011680"/>
            <a:ext cx="3611520" cy="4023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Shape 16"/>
          <p:cNvSpPr/>
          <p:nvPr/>
        </p:nvSpPr>
        <p:spPr>
          <a:xfrm>
            <a:off x="8138160" y="2011680"/>
            <a:ext cx="3611520" cy="1051200"/>
          </a:xfrm>
          <a:prstGeom prst="roundRect">
            <a:avLst>
              <a:gd name="adj" fmla="val 6957"/>
            </a:avLst>
          </a:prstGeom>
          <a:solidFill>
            <a:srgbClr val="1d35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17"/>
          <p:cNvSpPr/>
          <p:nvPr/>
        </p:nvSpPr>
        <p:spPr>
          <a:xfrm>
            <a:off x="8366760" y="21488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ffff"/>
                </a:solidFill>
                <a:latin typeface="Calibri"/>
                <a:ea typeface="Calibri"/>
              </a:rPr>
              <a:t>Scenario 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8366760" y="24872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Exercise Stress Present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8366760" y="32918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d3557"/>
                </a:solidFill>
                <a:latin typeface="Calibri"/>
                <a:ea typeface="Calibri"/>
              </a:rPr>
              <a:t>Change applied: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8366760" y="3611880"/>
            <a:ext cx="3200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52a"/>
                </a:solidFill>
                <a:latin typeface="Calibri"/>
                <a:ea typeface="Calibri"/>
              </a:rPr>
              <a:t>Exercise-induced angina present, ST depression +1.5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WHAT-IF ANALYSIS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Scenario Results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182" name="Image 0" descr="scenario_chart.png"/>
          <p:cNvPicPr/>
          <p:nvPr/>
        </p:nvPicPr>
        <p:blipFill>
          <a:blip r:embed="rId1"/>
          <a:stretch/>
        </p:blipFill>
        <p:spPr>
          <a:xfrm>
            <a:off x="457200" y="1554480"/>
            <a:ext cx="6949080" cy="3858480"/>
          </a:xfrm>
          <a:prstGeom prst="rect">
            <a:avLst/>
          </a:prstGeom>
          <a:ln w="0">
            <a:noFill/>
          </a:ln>
        </p:spPr>
      </p:pic>
      <p:sp>
        <p:nvSpPr>
          <p:cNvPr id="183" name="Shape 2"/>
          <p:cNvSpPr/>
          <p:nvPr/>
        </p:nvSpPr>
        <p:spPr>
          <a:xfrm>
            <a:off x="7589520" y="1554480"/>
            <a:ext cx="4023000" cy="4571640"/>
          </a:xfrm>
          <a:prstGeom prst="roundRect">
            <a:avLst>
              <a:gd name="adj" fmla="val 1818"/>
            </a:avLst>
          </a:prstGeom>
          <a:solidFill>
            <a:srgbClr val="1d355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Text 3"/>
          <p:cNvSpPr/>
          <p:nvPr/>
        </p:nvSpPr>
        <p:spPr>
          <a:xfrm>
            <a:off x="7818120" y="178308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Baseline: 56.2% predicted disease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7818120" y="2468880"/>
            <a:ext cx="35658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9fe0b0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9fe0b0"/>
                </a:solidFill>
                <a:latin typeface="Calibri"/>
                <a:ea typeface="Calibri"/>
              </a:rPr>
              <a:t>Largest drop: Improved CV health → 45.7% (–10.5 pts)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f4b7b9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f4b7b9"/>
                </a:solidFill>
                <a:latin typeface="Calibri"/>
                <a:ea typeface="Calibri"/>
              </a:rPr>
              <a:t>Largest rise: Exercise stress → 66.4% (+10.2 pts)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99"/>
              </a:spcAft>
              <a:buClr>
                <a:srgbClr val="cadcec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adcec"/>
                </a:solidFill>
                <a:latin typeface="Calibri"/>
                <a:ea typeface="Calibri"/>
              </a:rPr>
              <a:t>Smallest change: Chol &amp; BP → 57.2% (+1.0 pt)</a:t>
            </a:r>
            <a:endParaRPr b="0" lang="en-US" sz="13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8ecf3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e8ecf3"/>
                </a:solidFill>
                <a:latin typeface="Calibri"/>
                <a:ea typeface="Calibri"/>
              </a:rPr>
              <a:t>Direction matched expectations in every case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7818120" y="557784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c9cb"/>
                </a:solidFill>
                <a:latin typeface="Calibri"/>
                <a:ea typeface="Calibri"/>
              </a:rPr>
              <a:t>Model-sensitivity results – not proof of real-world causation.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COMMUNICATION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Interactive Power BI Dashboard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731520" y="411480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8a8a8a"/>
                </a:solidFill>
                <a:latin typeface="Calibri"/>
                <a:ea typeface="Calibri"/>
              </a:rPr>
              <a:t>(Replace this grey box with a screenshot of your updated dashboard)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8138160" y="1554480"/>
            <a:ext cx="3474360" cy="4571640"/>
          </a:xfrm>
          <a:prstGeom prst="roundRect">
            <a:avLst>
              <a:gd name="adj" fmla="val 2105"/>
            </a:avLst>
          </a:prstGeom>
          <a:solidFill>
            <a:srgbClr val="1d3557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1" name="Text 6"/>
          <p:cNvSpPr/>
          <p:nvPr/>
        </p:nvSpPr>
        <p:spPr>
          <a:xfrm>
            <a:off x="8366760" y="178308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Dashboard highlights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92" name="Text 7"/>
          <p:cNvSpPr/>
          <p:nvPr/>
        </p:nvSpPr>
        <p:spPr>
          <a:xfrm>
            <a:off x="8366760" y="2286000"/>
            <a:ext cx="30628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100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8ecf3"/>
                </a:solidFill>
                <a:latin typeface="Calibri"/>
                <a:ea typeface="Calibri"/>
              </a:rPr>
              <a:t>Target distribution &amp; key EDA charts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00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8ecf3"/>
                </a:solidFill>
                <a:latin typeface="Calibri"/>
                <a:ea typeface="Calibri"/>
              </a:rPr>
              <a:t>Baseline vs neural-network comparison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00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8ecf3"/>
                </a:solidFill>
                <a:latin typeface="Calibri"/>
                <a:ea typeface="Calibri"/>
              </a:rPr>
              <a:t>New scenario comparison chart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100"/>
              </a:spcAft>
              <a:buClr>
                <a:srgbClr val="e8ecf3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8ecf3"/>
                </a:solidFill>
                <a:latin typeface="Calibri"/>
                <a:ea typeface="Calibri"/>
              </a:rPr>
              <a:t>Interactive Scenario slicer (Baseline / S1 / S2 / S3)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e8ecf3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8ecf3"/>
                </a:solidFill>
                <a:latin typeface="Calibri"/>
                <a:ea typeface="Calibri"/>
              </a:rPr>
              <a:t>Filters: Sex, Age Group, Chest Pain Type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638280" y="1564200"/>
            <a:ext cx="7261200" cy="457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548640" y="3841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99" strike="noStrike">
                <a:solidFill>
                  <a:srgbClr val="a4161a"/>
                </a:solidFill>
                <a:latin typeface="Calibri"/>
                <a:ea typeface="Calibri"/>
              </a:rPr>
              <a:t>FINDINGS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548640" y="60336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1d3557"/>
                </a:solidFill>
                <a:latin typeface="Cambria"/>
                <a:ea typeface="Cambria"/>
              </a:rPr>
              <a:t>Conclusions: Answering the Questions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548640" y="1600200"/>
            <a:ext cx="11063880" cy="1416960"/>
          </a:xfrm>
          <a:prstGeom prst="roundRect">
            <a:avLst>
              <a:gd name="adj" fmla="val 516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Shape 3"/>
          <p:cNvSpPr/>
          <p:nvPr/>
        </p:nvSpPr>
        <p:spPr>
          <a:xfrm>
            <a:off x="777240" y="1947600"/>
            <a:ext cx="731160" cy="731160"/>
          </a:xfrm>
          <a:prstGeom prst="ellipse">
            <a:avLst/>
          </a:prstGeom>
          <a:solidFill>
            <a:srgbClr val="a416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4"/>
          <p:cNvSpPr/>
          <p:nvPr/>
        </p:nvSpPr>
        <p:spPr>
          <a:xfrm>
            <a:off x="777240" y="19476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Q1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1691640" y="178308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d3557"/>
                </a:solidFill>
                <a:latin typeface="Cambria"/>
                <a:ea typeface="Cambria"/>
              </a:rPr>
              <a:t>Which features matter most?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5074920" y="1737360"/>
            <a:ext cx="6309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22252a"/>
                </a:solidFill>
                <a:latin typeface="Calibri"/>
                <a:ea typeface="Calibri"/>
              </a:rPr>
              <a:t>Exercise-induced angina, ST depression, maximum heart rate, and number of major vessels dominate; cholesterol and BP are weak alone.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01" name="Shape 7"/>
          <p:cNvSpPr/>
          <p:nvPr/>
        </p:nvSpPr>
        <p:spPr>
          <a:xfrm>
            <a:off x="548640" y="3136320"/>
            <a:ext cx="11063880" cy="1416960"/>
          </a:xfrm>
          <a:prstGeom prst="roundRect">
            <a:avLst>
              <a:gd name="adj" fmla="val 516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8"/>
          <p:cNvSpPr/>
          <p:nvPr/>
        </p:nvSpPr>
        <p:spPr>
          <a:xfrm>
            <a:off x="777240" y="3483720"/>
            <a:ext cx="731160" cy="731160"/>
          </a:xfrm>
          <a:prstGeom prst="ellipse">
            <a:avLst/>
          </a:prstGeom>
          <a:solidFill>
            <a:srgbClr val="a416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9"/>
          <p:cNvSpPr/>
          <p:nvPr/>
        </p:nvSpPr>
        <p:spPr>
          <a:xfrm>
            <a:off x="777240" y="34837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Q2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1691640" y="331920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d3557"/>
                </a:solidFill>
                <a:latin typeface="Cambria"/>
                <a:ea typeface="Cambria"/>
              </a:rPr>
              <a:t>Neural network vs baseline?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5074920" y="3273480"/>
            <a:ext cx="6309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22252a"/>
                </a:solidFill>
                <a:latin typeface="Calibri"/>
                <a:ea typeface="Calibri"/>
              </a:rPr>
              <a:t>The neural network wins – accuracy 0.766 → 0.804 and F1 0.802 → 0.827, with better generalization.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548640" y="4672440"/>
            <a:ext cx="11063880" cy="1416960"/>
          </a:xfrm>
          <a:prstGeom prst="roundRect">
            <a:avLst>
              <a:gd name="adj" fmla="val 5161"/>
            </a:avLst>
          </a:prstGeom>
          <a:solidFill>
            <a:srgbClr val="f6eaea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999999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Shape 13"/>
          <p:cNvSpPr/>
          <p:nvPr/>
        </p:nvSpPr>
        <p:spPr>
          <a:xfrm>
            <a:off x="777240" y="5020200"/>
            <a:ext cx="731160" cy="731160"/>
          </a:xfrm>
          <a:prstGeom prst="ellipse">
            <a:avLst/>
          </a:prstGeom>
          <a:solidFill>
            <a:srgbClr val="a416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14"/>
          <p:cNvSpPr/>
          <p:nvPr/>
        </p:nvSpPr>
        <p:spPr>
          <a:xfrm>
            <a:off x="777240" y="50202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Q3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1691640" y="485532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d3557"/>
                </a:solidFill>
                <a:latin typeface="Cambria"/>
                <a:ea typeface="Cambria"/>
              </a:rPr>
              <a:t>Effect of changing inputs?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5074920" y="4809600"/>
            <a:ext cx="63090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22252a"/>
                </a:solidFill>
                <a:latin typeface="Calibri"/>
                <a:ea typeface="Calibri"/>
              </a:rPr>
              <a:t>Predicted risk is highly responsive to exercise / heart-rate changes and barely responsive to cholesterol / BP alone.</a:t>
            </a:r>
            <a:endParaRPr b="0" lang="en-U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e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-914400" y="4937760"/>
            <a:ext cx="2925720" cy="2925720"/>
          </a:xfrm>
          <a:prstGeom prst="ellipse">
            <a:avLst/>
          </a:prstGeom>
          <a:solidFill>
            <a:srgbClr val="8313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1"/>
          <p:cNvSpPr/>
          <p:nvPr/>
        </p:nvSpPr>
        <p:spPr>
          <a:xfrm>
            <a:off x="10607040" y="-914400"/>
            <a:ext cx="2742840" cy="2742840"/>
          </a:xfrm>
          <a:prstGeom prst="ellipse">
            <a:avLst/>
          </a:prstGeom>
          <a:solidFill>
            <a:srgbClr val="a416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2"/>
          <p:cNvSpPr/>
          <p:nvPr/>
        </p:nvSpPr>
        <p:spPr>
          <a:xfrm>
            <a:off x="640080" y="6400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199" strike="noStrike">
                <a:solidFill>
                  <a:srgbClr val="f2c9cb"/>
                </a:solidFill>
                <a:latin typeface="Calibri"/>
                <a:ea typeface="Calibri"/>
              </a:rPr>
              <a:t>RECOMMENDATIONS &amp; TAKEAWAYS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640080" y="105156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What this project shows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640080" y="219456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1400"/>
              </a:spcAft>
              <a:buClr>
                <a:srgbClr val="fbebec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bebec"/>
                </a:solidFill>
                <a:latin typeface="Calibri"/>
                <a:ea typeface="Calibri"/>
              </a:rPr>
              <a:t>The neural network is the recommended model – add early stopping / regularization to curb overfitting.</a:t>
            </a:r>
            <a:endParaRPr b="0" lang="en-US" sz="1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400"/>
              </a:spcAft>
              <a:buClr>
                <a:srgbClr val="fbebec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bebec"/>
                </a:solidFill>
                <a:latin typeface="Calibri"/>
                <a:ea typeface="Calibri"/>
              </a:rPr>
              <a:t>Exercise-related indicators and maximum heart rate are the most informative screening signals.</a:t>
            </a:r>
            <a:endParaRPr b="0" lang="en-US" sz="1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400"/>
              </a:spcAft>
              <a:buClr>
                <a:srgbClr val="fbebec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bebec"/>
                </a:solidFill>
                <a:latin typeface="Calibri"/>
                <a:ea typeface="Calibri"/>
              </a:rPr>
              <a:t>Scenario results are model sensitivity, not causation – use as decision support, not diagnosis.</a:t>
            </a:r>
            <a:endParaRPr b="0" lang="en-US" sz="17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fbebec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fbebec"/>
                </a:solidFill>
                <a:latin typeface="Calibri"/>
                <a:ea typeface="Calibri"/>
              </a:rPr>
              <a:t>Next steps: validate on broader, more representative data before any real-world use.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640080" y="60350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f2c9cb"/>
                </a:solidFill>
                <a:latin typeface="Calibri"/>
                <a:ea typeface="Calibri"/>
              </a:rPr>
              <a:t>Thank you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2026-08-27T04:13:05Z</dcterms:created>
  <dc:creator>PptxGenJS</dc:creator>
  <dc:description/>
  <dc:language>en-US</dc:language>
  <cp:lastModifiedBy/>
  <dcterms:modified xsi:type="dcterms:W3CDTF">2026-08-27T18:36:55Z</dcterms:modified>
  <cp:revision>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